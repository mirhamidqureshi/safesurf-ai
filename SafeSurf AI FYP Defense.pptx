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JetBrains Mono"/>
      <p:bold r:id="rId17"/>
    </p:embeddedFont>
    <p:embeddedFont>
      <p:font typeface="Inter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4483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0D1425"/>
          </a:solidFill>
          <a:ln w="9525">
            <a:solidFill>
              <a:srgbClr val="1E2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39350" y="457200"/>
            <a:ext cx="1543050" cy="257175"/>
          </a:xfrm>
          <a:prstGeom prst="roundRect">
            <a:avLst>
              <a:gd name="adj" fmla="val 14814"/>
            </a:avLst>
          </a:prstGeom>
          <a:solidFill>
            <a:srgbClr val="0F2033"/>
          </a:solidFill>
          <a:ln w="9525">
            <a:solidFill>
              <a:srgbClr val="1332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43900" y="2124075"/>
            <a:ext cx="3238500" cy="2076450"/>
          </a:xfrm>
          <a:prstGeom prst="roundRect">
            <a:avLst>
              <a:gd name="adj" fmla="val 5504"/>
            </a:avLst>
          </a:prstGeom>
          <a:solidFill>
            <a:srgbClr val="0E1527"/>
          </a:solidFill>
          <a:ln w="9525">
            <a:solidFill>
              <a:srgbClr val="16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5648325"/>
            <a:ext cx="5095875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150268"/>
            <a:ext cx="3143250" cy="285750"/>
          </a:xfrm>
          <a:prstGeom prst="roundRect">
            <a:avLst>
              <a:gd name="adj" fmla="val 50000"/>
            </a:avLst>
          </a:prstGeom>
          <a:solidFill>
            <a:srgbClr val="0B263C"/>
          </a:solidFill>
          <a:ln w="9525">
            <a:solidFill>
              <a:srgbClr val="0B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82025" y="2362200"/>
            <a:ext cx="276225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82025" y="3676650"/>
            <a:ext cx="27622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5648325"/>
            <a:ext cx="9525" cy="552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82025" y="2647950"/>
            <a:ext cx="27622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76425" y="5886450"/>
            <a:ext cx="1114425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81350" y="5886450"/>
            <a:ext cx="11620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76425" y="5886450"/>
            <a:ext cx="95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81350" y="5886450"/>
            <a:ext cx="95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1487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22646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025" y="2371725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25" y="3838575"/>
            <a:ext cx="85725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53650" y="495300"/>
            <a:ext cx="1409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"/>
              </a:rPr>
              <a:t>Session 2022–2026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495300"/>
            <a:ext cx="5036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4A3B8"/>
                </a:solidFill>
                <a:latin typeface="Inter"/>
              </a:rPr>
              <a:t>DEPARTMENT OF COMPUTER SYSTEMS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2626518"/>
            <a:ext cx="9651206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FFFFFF"/>
                </a:solidFill>
                <a:latin typeface="Inter"/>
              </a:rPr>
              <a:t>SafeSurf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3244601"/>
            <a:ext cx="9191625" cy="272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Intelligent Cybersecurity Threat Detection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745557"/>
            <a:ext cx="6000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Centralized heuristic threat analysis, external API intelligence integration, and browser-level perimeter defense for web, email, and wireless environments.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2025" y="2809875"/>
            <a:ext cx="3452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FACULTY &amp; INSTITUTION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2025" y="3019425"/>
            <a:ext cx="3452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2E8F0"/>
                </a:solidFill>
                <a:latin typeface="Inter"/>
              </a:rPr>
              <a:t>Faculty of Engineering &amp; Technology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2025" y="3219450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Mirpur University of Science and Technology (MUST)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2025" y="3819525"/>
            <a:ext cx="3452812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Mirpur, Azad Jammu &amp; Kashmir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5648325"/>
            <a:ext cx="6369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PROJECT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8425" y="5648325"/>
            <a:ext cx="57435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PROJECT SUPERVISOR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8425" y="5867400"/>
            <a:ext cx="5743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Inter"/>
              </a:rPr>
              <a:t>Engr. Sehrish Abid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425" y="6048375"/>
            <a:ext cx="57435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Department of Computer Systems Engineering, MUST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025" y="2216943"/>
            <a:ext cx="3309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B.SC. FINAL YEAR PROJECT DEFENSE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8725" y="2362200"/>
            <a:ext cx="228778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Academic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825" y="5886450"/>
            <a:ext cx="10858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Hamid 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" y="6048375"/>
            <a:ext cx="10858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JetBrains Mono"/>
              </a:rPr>
              <a:t>FA22-CSE-013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8350" y="5886450"/>
            <a:ext cx="1238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Abdul Rehman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38350" y="6048375"/>
            <a:ext cx="1238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JetBrains Mono"/>
              </a:rPr>
              <a:t>FA22-CSE-001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43275" y="5886450"/>
            <a:ext cx="1285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Haider Ali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43275" y="6048375"/>
            <a:ext cx="1285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JetBrains Mono"/>
              </a:rPr>
              <a:t>FA22-CSE-CSE-69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15500" y="623887"/>
            <a:ext cx="18669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821358"/>
            <a:ext cx="5334000" cy="4082057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207121"/>
            <a:ext cx="5334000" cy="1001910"/>
          </a:xfrm>
          <a:prstGeom prst="roundRect">
            <a:avLst>
              <a:gd name="adj" fmla="val 95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361432"/>
            <a:ext cx="5334000" cy="1001910"/>
          </a:xfrm>
          <a:prstGeom prst="roundRect">
            <a:avLst>
              <a:gd name="adj" fmla="val 95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515742"/>
            <a:ext cx="5334000" cy="1001910"/>
          </a:xfrm>
          <a:prstGeom prst="roundRect">
            <a:avLst>
              <a:gd name="adj" fmla="val 95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24625" y="4583608"/>
            <a:ext cx="4781550" cy="1043582"/>
          </a:xfrm>
          <a:prstGeom prst="roundRect">
            <a:avLst>
              <a:gd name="adj" fmla="val 730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207121"/>
            <a:ext cx="38100" cy="100191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361432"/>
            <a:ext cx="38100" cy="100191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515742"/>
            <a:ext cx="38100" cy="100191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24625" y="2402383"/>
            <a:ext cx="4781550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24625" y="3173908"/>
            <a:ext cx="4781550" cy="409575"/>
          </a:xfrm>
          <a:prstGeom prst="roundRect">
            <a:avLst>
              <a:gd name="adj" fmla="val 18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24625" y="3945433"/>
            <a:ext cx="4781550" cy="409575"/>
          </a:xfrm>
          <a:prstGeom prst="roundRect">
            <a:avLst>
              <a:gd name="adj" fmla="val 18604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012" y="2926258"/>
            <a:ext cx="10477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012" y="3697783"/>
            <a:ext cx="104775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16671"/>
            <a:ext cx="1714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70982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725292"/>
            <a:ext cx="1905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537" y="2545258"/>
            <a:ext cx="1714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1875" y="3316783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7112" y="4088308"/>
            <a:ext cx="1333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6550" y="4764583"/>
            <a:ext cx="133350" cy="1333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457200"/>
            <a:ext cx="51530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01. Context &amp; Motivation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7900" y="681037"/>
            <a:ext cx="1657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FYP Defense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85800"/>
            <a:ext cx="6638329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Introduction &amp; Problem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6931" y="2097583"/>
            <a:ext cx="5976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284C7"/>
                </a:solidFill>
                <a:latin typeface="Inter"/>
              </a:rPr>
              <a:t>THREAT VULNERABILITY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397621"/>
            <a:ext cx="6450806" cy="1905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Phishing &amp; Domain Impersonation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645271"/>
            <a:ext cx="50101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Phishing domains spoof legitimate institutional services, tricking end-users via visual similarity.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551932"/>
            <a:ext cx="6450806" cy="1905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Opaque Link Redirection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799582"/>
            <a:ext cx="50101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Email links use obfuscated URLs and multi-stage redirects to bypass standard spam filters.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706242"/>
            <a:ext cx="6450806" cy="1905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Unclear WiFi Security Posture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953892"/>
            <a:ext cx="50101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Users connect to wireless access points without understanding underlying cipher configurations.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1231" y="2516683"/>
            <a:ext cx="574833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34155"/>
                </a:solidFill>
                <a:latin typeface="Inter"/>
              </a:rPr>
              <a:t>End User Interaction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41231" y="3288208"/>
            <a:ext cx="574833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91B1B"/>
                </a:solidFill>
                <a:latin typeface="Inter"/>
              </a:rPr>
              <a:t>Suspicious Website / Email Link / Open WiFi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1231" y="4059733"/>
            <a:ext cx="574833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A3412"/>
                </a:solidFill>
                <a:latin typeface="Inter"/>
              </a:rPr>
              <a:t>Exposure to Cyber Threat &amp; Credential Theft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86550" y="4745533"/>
            <a:ext cx="5505450" cy="1619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Inter"/>
              </a:rPr>
              <a:t>Core Engineering Problem Statement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6550" y="4945558"/>
            <a:ext cx="45529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C4A6E"/>
                </a:solidFill>
                <a:latin typeface="Inter"/>
              </a:rPr>
              <a:t>Users require a unified, automated, and centralized preliminary security mechanism to evaluate threat vectors in real time across browser, network, and communication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48925" y="623887"/>
            <a:ext cx="1133475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67247"/>
            <a:ext cx="5079950" cy="3152179"/>
          </a:xfrm>
          <a:prstGeom prst="roundRect">
            <a:avLst>
              <a:gd name="adj" fmla="val 36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94350" y="2400300"/>
            <a:ext cx="5588049" cy="85725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94350" y="4876800"/>
            <a:ext cx="5588049" cy="409575"/>
          </a:xfrm>
          <a:prstGeom prst="roundRect">
            <a:avLst>
              <a:gd name="adj" fmla="val 18604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94350" y="3409950"/>
            <a:ext cx="1799183" cy="609600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88783" y="3409950"/>
            <a:ext cx="1799183" cy="609600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83216" y="3409950"/>
            <a:ext cx="1799183" cy="609600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94350" y="4114800"/>
            <a:ext cx="1799183" cy="609600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88783" y="4114800"/>
            <a:ext cx="1799183" cy="609600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83216" y="4114800"/>
            <a:ext cx="1799183" cy="609600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19660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142" y="3543300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575" y="3543300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3196" y="3543300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8142" y="4248150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2575" y="4248150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008" y="4248150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2881610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369171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856732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344292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831853"/>
            <a:ext cx="114300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47910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02. Scope &amp; Architecture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82275" y="681037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75569"/>
                </a:solidFill>
                <a:latin typeface="Inter"/>
              </a:rPr>
              <a:t>System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85800"/>
            <a:ext cx="616327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Objectives &amp; Proposed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375" y="2505372"/>
            <a:ext cx="5782324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Core Project Objectives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44" y="2590800"/>
            <a:ext cx="660406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Central Core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275" y="2857797"/>
            <a:ext cx="4489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Website Heuristics: Detect suspicious URL structures, brand impersonation, and missing SSL.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275" y="3345358"/>
            <a:ext cx="4489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Email Parsing: Extract embedded links from message bodies for preliminary threat inspection.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275" y="3832919"/>
            <a:ext cx="4489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WiFi Diagnostics: Analyze active OS network connection security parameters and cipher protocols.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275" y="4320480"/>
            <a:ext cx="4489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Threat Intel Aggregation: Integrate VirusTotal v3 and Google Safe Browsing v4 APIs.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7275" y="4808041"/>
            <a:ext cx="4489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Browser Integration: Provide real-time page inspection via Chrome Extension (Manifest V3).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9359" y="2819400"/>
            <a:ext cx="665803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Inter"/>
              </a:rPr>
              <a:t>SafeSurf AI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5325" y="5010150"/>
            <a:ext cx="15359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Inter"/>
              </a:rPr>
              <a:t>EXECUTION PIPELINE: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58125" y="5000625"/>
            <a:ext cx="4333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C4A6E"/>
                </a:solidFill>
                <a:latin typeface="JetBrains Mono"/>
              </a:rPr>
              <a:t>Analyze → Score → Classify → Explain →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4233" y="3752850"/>
            <a:ext cx="193941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369A1"/>
                </a:solidFill>
                <a:latin typeface="Inter"/>
              </a:rPr>
              <a:t>Website Scanner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666" y="3752850"/>
            <a:ext cx="193941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369A1"/>
                </a:solidFill>
                <a:latin typeface="Inter"/>
              </a:rPr>
              <a:t>Email Scanner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3100" y="3752850"/>
            <a:ext cx="193941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369A1"/>
                </a:solidFill>
                <a:latin typeface="Inter"/>
              </a:rPr>
              <a:t>WiFi Analyzer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4233" y="4457700"/>
            <a:ext cx="193941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369A1"/>
                </a:solidFill>
                <a:latin typeface="Inter"/>
              </a:rPr>
              <a:t>Threat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666" y="4457700"/>
            <a:ext cx="193941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369A1"/>
                </a:solidFill>
                <a:latin typeface="Inter"/>
              </a:rPr>
              <a:t>Chrome Extension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3100" y="4457700"/>
            <a:ext cx="193941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369A1"/>
                </a:solidFill>
                <a:latin typeface="Inter"/>
              </a:rPr>
              <a:t>Batch URL Checker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58375" y="523875"/>
            <a:ext cx="1800225" cy="266700"/>
          </a:xfrm>
          <a:prstGeom prst="roundRect">
            <a:avLst>
              <a:gd name="adj" fmla="val 2142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881312"/>
            <a:ext cx="11125200" cy="714375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014787"/>
            <a:ext cx="11125200" cy="114300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1843087"/>
            <a:ext cx="5486400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1843087"/>
            <a:ext cx="5486400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5272087"/>
            <a:ext cx="548640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5272087"/>
            <a:ext cx="548640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29037" y="3243262"/>
            <a:ext cx="1133475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53012" y="3243262"/>
            <a:ext cx="1000125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43637" y="3243262"/>
            <a:ext cx="866775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00912" y="3243262"/>
            <a:ext cx="1162050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4500562"/>
            <a:ext cx="2087760" cy="504825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68810" y="4500562"/>
            <a:ext cx="2087909" cy="504825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51970" y="4500562"/>
            <a:ext cx="2087909" cy="504825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35130" y="4500562"/>
            <a:ext cx="2087909" cy="504825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18290" y="4500562"/>
            <a:ext cx="2087760" cy="504825"/>
          </a:xfrm>
          <a:prstGeom prst="roundRect">
            <a:avLst>
              <a:gd name="adj" fmla="val 113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6350" y="5438775"/>
            <a:ext cx="771525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934700" y="5438775"/>
            <a:ext cx="561975" cy="1524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837" y="2595562"/>
            <a:ext cx="1143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3729037"/>
            <a:ext cx="1143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50" y="3062287"/>
            <a:ext cx="11430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2195512"/>
            <a:ext cx="1524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3762" y="2195512"/>
            <a:ext cx="1333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5419725"/>
            <a:ext cx="23812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5419725"/>
            <a:ext cx="17145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3400" y="381000"/>
            <a:ext cx="47148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03. Technical Blueprint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1725" y="581025"/>
            <a:ext cx="1628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JetBrains Mono"/>
              </a:rPr>
              <a:t>REST Micro-Architecture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428625" y="2576512"/>
            <a:ext cx="13049250" cy="19050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Inter"/>
              </a:rPr>
              <a:t>HTTP REST API / 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428625" y="3709987"/>
            <a:ext cx="13049250" cy="19050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Inter"/>
              </a:rPr>
              <a:t>Flask Router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590550"/>
            <a:ext cx="606325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Inter"/>
              </a:rPr>
              <a:t>End-to-End System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38100" y="1957387"/>
            <a:ext cx="66294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Inter"/>
              </a:rPr>
              <a:t>Client Interface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19750" y="1957387"/>
            <a:ext cx="65913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Inter"/>
              </a:rPr>
              <a:t>Client Interface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7187" y="3043237"/>
            <a:ext cx="3857625" cy="1333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369A1"/>
                </a:solidFill>
                <a:latin typeface="Inter"/>
              </a:rPr>
              <a:t>APPLICATION SECURITY MIDDLEWARE GATEWAY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81" y="2176462"/>
            <a:ext cx="6548437" cy="1619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Inter"/>
              </a:rPr>
              <a:t>Web Dashboard (HTML5 / CSS3 / JS / Chart.js)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41181" y="2176462"/>
            <a:ext cx="6548437" cy="1619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Inter"/>
              </a:rPr>
              <a:t>Chrome Extension (Manifest V3 Service Worker)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81412" y="3281362"/>
            <a:ext cx="1228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C4A6E"/>
                </a:solidFill>
                <a:latin typeface="Inter"/>
              </a:rPr>
              <a:t>CORS Hardening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5387" y="3281362"/>
            <a:ext cx="1095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C4A6E"/>
                </a:solidFill>
                <a:latin typeface="Inter"/>
              </a:rPr>
              <a:t>SSRF Defense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6012" y="3281362"/>
            <a:ext cx="962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C4A6E"/>
                </a:solidFill>
                <a:latin typeface="Inter"/>
              </a:rPr>
              <a:t>Rate Limiter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0906" y="3281362"/>
            <a:ext cx="126206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C4A6E"/>
                </a:solidFill>
                <a:latin typeface="Inter"/>
              </a:rPr>
              <a:t>Security Headers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167187"/>
            <a:ext cx="2452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Python Flask REST API 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72750" y="4176712"/>
            <a:ext cx="12192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127.0.0.1:5000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2550" y="5457825"/>
            <a:ext cx="7143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HTTPS JSON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0900" y="5457825"/>
            <a:ext cx="5048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Inter"/>
              </a:rPr>
              <a:t>Local 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5798" y="4605337"/>
            <a:ext cx="234776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"/>
              </a:rPr>
              <a:t>Engine Module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798" y="4757737"/>
            <a:ext cx="23477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Website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38790" y="4605337"/>
            <a:ext cx="23479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"/>
              </a:rPr>
              <a:t>Engine Module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38790" y="4757737"/>
            <a:ext cx="23479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Email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1950" y="4605337"/>
            <a:ext cx="23479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"/>
              </a:rPr>
              <a:t>Engine Module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1950" y="4757737"/>
            <a:ext cx="23479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WiFi Diagnostics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05110" y="4605337"/>
            <a:ext cx="23479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"/>
              </a:rPr>
              <a:t>Engine Module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5110" y="4757737"/>
            <a:ext cx="23479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Scoring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8288" y="4605337"/>
            <a:ext cx="234776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"/>
              </a:rPr>
              <a:t>Engine Module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8288" y="4757737"/>
            <a:ext cx="23477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Threat Intel Broker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" y="5376862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External Threat Intelligence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" y="5519737"/>
            <a:ext cx="302418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VirusTotal API v3 | Google Safe Browsing API v4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0825" y="5376862"/>
            <a:ext cx="1988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Persistence Layer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0825" y="5519737"/>
            <a:ext cx="198834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SQLite Database (threats.db)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85875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91725" y="623887"/>
            <a:ext cx="1590675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3425" y="1409700"/>
            <a:ext cx="1483072" cy="31432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73647" y="1409700"/>
            <a:ext cx="1483221" cy="31432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14018" y="1409700"/>
            <a:ext cx="1483221" cy="31432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54389" y="1409700"/>
            <a:ext cx="1483072" cy="31432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94611" y="1409700"/>
            <a:ext cx="1483221" cy="31432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34982" y="1409700"/>
            <a:ext cx="1483221" cy="31432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975353" y="1409700"/>
            <a:ext cx="1483072" cy="314325"/>
          </a:xfrm>
          <a:prstGeom prst="roundRect">
            <a:avLst>
              <a:gd name="adj" fmla="val 1212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9600" y="3181350"/>
            <a:ext cx="5839569" cy="211455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15869" y="2076450"/>
            <a:ext cx="4866530" cy="4324350"/>
          </a:xfrm>
          <a:prstGeom prst="roundRect">
            <a:avLst>
              <a:gd name="adj" fmla="val 264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44469" y="5446514"/>
            <a:ext cx="4409330" cy="725685"/>
          </a:xfrm>
          <a:prstGeom prst="roundRect">
            <a:avLst>
              <a:gd name="adj" fmla="val 10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7725" y="3743325"/>
            <a:ext cx="2624435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86460" y="3743325"/>
            <a:ext cx="2624583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7725" y="4219575"/>
            <a:ext cx="2624435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86460" y="4219575"/>
            <a:ext cx="2624583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7725" y="4695825"/>
            <a:ext cx="2624435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586460" y="4695825"/>
            <a:ext cx="2624583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44469" y="3680519"/>
            <a:ext cx="2147441" cy="819150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206210" y="3680519"/>
            <a:ext cx="2147589" cy="819150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38525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867150"/>
            <a:ext cx="1047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235" y="3867150"/>
            <a:ext cx="152400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343400"/>
            <a:ext cx="10477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1235" y="4343400"/>
            <a:ext cx="152400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4819650"/>
            <a:ext cx="12382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1235" y="4819650"/>
            <a:ext cx="15240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294" y="5589389"/>
            <a:ext cx="114300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9600" y="457200"/>
            <a:ext cx="55530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04. Core Analytical Component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25075" y="681037"/>
            <a:ext cx="1419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Inspection Mechanics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240" y="1485900"/>
            <a:ext cx="17014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Inter"/>
              </a:rPr>
              <a:t>URL 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4444" y="1485900"/>
            <a:ext cx="170162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Inter"/>
              </a:rPr>
              <a:t>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4815" y="1485900"/>
            <a:ext cx="170162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Inter"/>
              </a:rPr>
              <a:t>Domain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45205" y="1485900"/>
            <a:ext cx="17014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Inter"/>
              </a:rPr>
              <a:t>Heuristics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5409" y="1485900"/>
            <a:ext cx="170162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Inter"/>
              </a:rPr>
              <a:t>Threat Intel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5780" y="1485900"/>
            <a:ext cx="170162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Inter"/>
              </a:rPr>
              <a:t>Scoring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6169" y="1485900"/>
            <a:ext cx="170144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Security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85800"/>
            <a:ext cx="7163395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Website Security Analysis &amp; Scoring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725" y="3419475"/>
            <a:ext cx="7039356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Evaluated Security Indicators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4469" y="2305050"/>
            <a:ext cx="450458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Output Verdict Metrics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4469" y="2533650"/>
            <a:ext cx="52475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Automated Security Classification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68294" y="5570339"/>
            <a:ext cx="5123705" cy="1428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Explanatory Feedback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8294" y="5751314"/>
            <a:ext cx="425693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Generates specific heuristic breakdown warnings and recommended remedial actions for end-users.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4632" y="3823394"/>
            <a:ext cx="23271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"/>
              </a:rPr>
              <a:t>SCORE RANGE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4632" y="3975794"/>
            <a:ext cx="232711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38BDF8"/>
                </a:solidFill>
                <a:latin typeface="Inter"/>
              </a:rPr>
              <a:t>0 – 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16355" y="3823394"/>
            <a:ext cx="23272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"/>
              </a:rPr>
              <a:t>STATUS VERDICT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6355" y="4032944"/>
            <a:ext cx="23272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ADE80"/>
                </a:solidFill>
                <a:latin typeface="Inter"/>
              </a:rPr>
              <a:t>SAFE / MODERATE / CRITICAL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065" y="3065128"/>
            <a:ext cx="6083613" cy="26480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39350" y="623887"/>
            <a:ext cx="1543050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285875"/>
            <a:ext cx="5353050" cy="5114925"/>
          </a:xfrm>
          <a:prstGeom prst="roundRect">
            <a:avLst>
              <a:gd name="adj" fmla="val 22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1285875"/>
            <a:ext cx="5353050" cy="5114925"/>
          </a:xfrm>
          <a:prstGeom prst="roundRect">
            <a:avLst>
              <a:gd name="adj" fmla="val 22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5667375"/>
            <a:ext cx="4876800" cy="495300"/>
          </a:xfrm>
          <a:prstGeom prst="roundRect">
            <a:avLst>
              <a:gd name="adj" fmla="val 1153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67475" y="5524500"/>
            <a:ext cx="4876800" cy="638175"/>
          </a:xfrm>
          <a:prstGeom prst="roundRect">
            <a:avLst>
              <a:gd name="adj" fmla="val 8955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7725" y="1524000"/>
            <a:ext cx="4876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2200275"/>
            <a:ext cx="4876800" cy="5143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67475" y="1524000"/>
            <a:ext cx="4876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67475" y="2200275"/>
            <a:ext cx="4876800" cy="5143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67475" y="2847975"/>
            <a:ext cx="48768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725" y="1828800"/>
            <a:ext cx="4876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67475" y="1828800"/>
            <a:ext cx="4876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24000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5791200"/>
            <a:ext cx="1143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1524000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5648325"/>
            <a:ext cx="114300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881312"/>
            <a:ext cx="10477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128962"/>
            <a:ext cx="10477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376612"/>
            <a:ext cx="104775" cy="1333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457200"/>
            <a:ext cx="6019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05. Specialized Security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2700" y="681037"/>
            <a:ext cx="1371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Multi-Vector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85800"/>
            <a:ext cx="7775971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Email Phishing &amp; WiFi Security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1981200"/>
            <a:ext cx="6096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ANALYTICAL SEQUENCE: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75" y="2295525"/>
            <a:ext cx="47815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369A1"/>
                </a:solidFill>
                <a:latin typeface="JetBrains Mono"/>
              </a:rPr>
              <a:t>Input → Content Parsing → URL Extraction → Security Analysis → Threat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600" y="5772150"/>
            <a:ext cx="5738812" cy="1428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Inter"/>
              </a:rPr>
              <a:t>Coverage 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" y="5915025"/>
            <a:ext cx="5738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C4A6E"/>
                </a:solidFill>
                <a:latin typeface="Inter"/>
              </a:rPr>
              <a:t>Prevents credential theft originating from suspicious email call-to-action buttons.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7475" y="1981200"/>
            <a:ext cx="57245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DIAGNOSTIC SEQUENCE: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2295525"/>
            <a:ext cx="47815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369A1"/>
                </a:solidFill>
                <a:latin typeface="JetBrains Mono"/>
              </a:rPr>
              <a:t>Connected AP → OS Interface Query → Encryption Check → Security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0350" y="5629275"/>
            <a:ext cx="5581650" cy="1428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Inter"/>
              </a:rPr>
              <a:t>Technical Assurance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0350" y="577215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7F1D1D"/>
                </a:solidFill>
                <a:latin typeface="Inter"/>
              </a:rPr>
              <a:t>Queries active OS wireless interface parameters directly. Does not generate synthetic network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525" y="1528762"/>
            <a:ext cx="27253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Email Phishing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" y="2867025"/>
            <a:ext cx="59150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Header and sender metadata structure review.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" y="3114675"/>
            <a:ext cx="59150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Regex parsing engine isolates embedded hyperlinks.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" y="3362325"/>
            <a:ext cx="59150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Extracted links piped directly to security heuristics pipeline.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9425" y="1528762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WiFi Security Diagnostics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1775" y="2962275"/>
            <a:ext cx="56102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NATIVE OPERATING SYSTEM INTERFACING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1775" y="3152775"/>
            <a:ext cx="56102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JetBrains Mono"/>
              </a:rPr>
              <a:t>Win: netsh wlan show interfaces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1775" y="3286125"/>
            <a:ext cx="56102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JetBrains Mono"/>
              </a:rPr>
              <a:t>Linux: nmcli dev wifi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01325" y="623887"/>
            <a:ext cx="981075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3369" y="2314575"/>
            <a:ext cx="5819030" cy="3057525"/>
          </a:xfrm>
          <a:prstGeom prst="roundRect">
            <a:avLst>
              <a:gd name="adj" fmla="val 37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580382"/>
            <a:ext cx="4848969" cy="1059060"/>
          </a:xfrm>
          <a:prstGeom prst="roundRect">
            <a:avLst>
              <a:gd name="adj" fmla="val 89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791842"/>
            <a:ext cx="4848969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91969" y="2800350"/>
            <a:ext cx="5361830" cy="5334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91969" y="3705225"/>
            <a:ext cx="5361830" cy="5334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91969" y="4610100"/>
            <a:ext cx="5361830" cy="5334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15794" y="29337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15794" y="38385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15794" y="47434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9625" y="4277617"/>
            <a:ext cx="2186285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72110" y="4277617"/>
            <a:ext cx="2186433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9625" y="4630042"/>
            <a:ext cx="2186285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72110" y="4630042"/>
            <a:ext cx="2186433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385" y="3467100"/>
            <a:ext cx="85725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735" y="4371975"/>
            <a:ext cx="85725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799457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010917"/>
            <a:ext cx="17145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6229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06. Client Integration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34675" y="681037"/>
            <a:ext cx="809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Inter"/>
              </a:rPr>
              <a:t>Manifest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85800"/>
            <a:ext cx="8051006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Browser Security with Chrome Extension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1969" y="2543175"/>
            <a:ext cx="62000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EXTENSION COMMUNICATION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740" y="3448050"/>
            <a:ext cx="6702288" cy="1428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8BDF8"/>
                </a:solidFill>
                <a:latin typeface="Inter"/>
              </a:rPr>
              <a:t>Content Script Intercepts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740" y="4352925"/>
            <a:ext cx="6702288" cy="1428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8BDF8"/>
                </a:solidFill>
                <a:latin typeface="Inter"/>
              </a:rPr>
              <a:t>Response Evaluated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2780407"/>
            <a:ext cx="5839206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Perimeter 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3066157"/>
            <a:ext cx="4544169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Enables active page inspection directly from the browser window without requiring manual dashboard URL submission.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3991867"/>
            <a:ext cx="5839206" cy="1905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Architecture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2919" y="293370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2919" y="383857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2919" y="47434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75" y="4334767"/>
            <a:ext cx="216723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Inter"/>
              </a:rPr>
              <a:t>Service Worker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9260" y="4334767"/>
            <a:ext cx="216738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Inter"/>
              </a:rPr>
              <a:t>Content 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775" y="4687192"/>
            <a:ext cx="216723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Inter"/>
              </a:rPr>
              <a:t>Popup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9260" y="4687192"/>
            <a:ext cx="216738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Inter"/>
              </a:rPr>
              <a:t>Local Cache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6794" y="2924175"/>
            <a:ext cx="2345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Active Web Page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6794" y="3076575"/>
            <a:ext cx="234553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User navigates to target website URL.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6794" y="3829050"/>
            <a:ext cx="2869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Service Worker REST Call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6794" y="3981450"/>
            <a:ext cx="286940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Sends JSON payload to SafeSurf AI Flask API.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6794" y="4733925"/>
            <a:ext cx="4012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Popup Badge &amp; Alert Render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6794" y="4886325"/>
            <a:ext cx="401240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Immediate visual security badge status rendered in browser 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605790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06075" y="566737"/>
            <a:ext cx="1152525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756469"/>
            <a:ext cx="2681287" cy="1116210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48037" y="1761232"/>
            <a:ext cx="2681287" cy="1106685"/>
          </a:xfrm>
          <a:prstGeom prst="roundRect">
            <a:avLst>
              <a:gd name="adj" fmla="val 68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62675" y="1761232"/>
            <a:ext cx="2681287" cy="1106685"/>
          </a:xfrm>
          <a:prstGeom prst="roundRect">
            <a:avLst>
              <a:gd name="adj" fmla="val 68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77312" y="1761232"/>
            <a:ext cx="2681287" cy="1106685"/>
          </a:xfrm>
          <a:prstGeom prst="roundRect">
            <a:avLst>
              <a:gd name="adj" fmla="val 68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4199632"/>
            <a:ext cx="2681287" cy="1106685"/>
          </a:xfrm>
          <a:prstGeom prst="roundRect">
            <a:avLst>
              <a:gd name="adj" fmla="val 68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48037" y="4199632"/>
            <a:ext cx="2681287" cy="1106685"/>
          </a:xfrm>
          <a:prstGeom prst="roundRect">
            <a:avLst>
              <a:gd name="adj" fmla="val 68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62675" y="4194869"/>
            <a:ext cx="2681287" cy="1116210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7312" y="4199632"/>
            <a:ext cx="2681287" cy="1106685"/>
          </a:xfrm>
          <a:prstGeom prst="roundRect">
            <a:avLst>
              <a:gd name="adj" fmla="val 68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5325" y="1956494"/>
            <a:ext cx="685800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09962" y="1961257"/>
            <a:ext cx="695325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24600" y="1961257"/>
            <a:ext cx="714375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39237" y="1961257"/>
            <a:ext cx="714375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5325" y="4399657"/>
            <a:ext cx="714375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09962" y="4399657"/>
            <a:ext cx="723900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24600" y="4394894"/>
            <a:ext cx="714375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39237" y="4399657"/>
            <a:ext cx="714375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6191250"/>
            <a:ext cx="123825" cy="1238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19100"/>
            <a:ext cx="5334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07. Hardening &amp; Vulnerability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9425" y="623887"/>
            <a:ext cx="981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OWASP Aligned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6172200"/>
            <a:ext cx="2369343" cy="15240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Implementation Affirmation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6176962"/>
            <a:ext cx="69342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Security controls were actively written into application middleware, not merely cited as external recommendations.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28650"/>
            <a:ext cx="687585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Inter"/>
              </a:rPr>
              <a:t>Application Security 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1975544"/>
            <a:ext cx="666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OWASP A10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325" y="2185094"/>
            <a:ext cx="309413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SSRF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325" y="2404169"/>
            <a:ext cx="2452687" cy="306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Blocks outbound requests targeting loopback (127.0.0.1) and private subnets.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7112" y="1980307"/>
            <a:ext cx="6762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OWASP A01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962" y="2189857"/>
            <a:ext cx="309413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Restricted CORS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962" y="2408932"/>
            <a:ext cx="245268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Strict origin white-listing prevents unauthorized cross-site API access.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1980307"/>
            <a:ext cx="6953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OWASP A05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2189857"/>
            <a:ext cx="309413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Rate Limiting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600" y="2408932"/>
            <a:ext cx="245268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Restricts automated API abuse and denial-of-service spam attempts.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6387" y="1980307"/>
            <a:ext cx="6953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OWASP A05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9237" y="2189857"/>
            <a:ext cx="30527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Security Headers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9237" y="2408932"/>
            <a:ext cx="245268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Injects HSTS, X-Frame-Options, and CSP headers on API responses.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475" y="4418707"/>
            <a:ext cx="6953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OWASP A05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325" y="4628257"/>
            <a:ext cx="309413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Localhost Binding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325" y="4847332"/>
            <a:ext cx="245268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Flask server bound explicitly to loopback interfaces during testing.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7112" y="4418707"/>
            <a:ext cx="7048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OWASP A03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9962" y="4628257"/>
            <a:ext cx="309413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Path Traversal Defense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9962" y="4847332"/>
            <a:ext cx="245268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Sanitizes incoming file paths and user inputs against directory traversal.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1750" y="4413944"/>
            <a:ext cx="6953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OWASP A07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600" y="4623494"/>
            <a:ext cx="309413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Environment Secrets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4600" y="4842569"/>
            <a:ext cx="2452687" cy="306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Isolates external VirusTotal / Safe Browsing keys in .env configuration.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96387" y="4418707"/>
            <a:ext cx="6953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OWASP A05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39237" y="4628257"/>
            <a:ext cx="30527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Debug Mode Disabled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39237" y="4847332"/>
            <a:ext cx="245268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Disables interactive debuggers to prevent remote code execution risks.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29875" y="623887"/>
            <a:ext cx="1152525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76487"/>
            <a:ext cx="5839569" cy="2933700"/>
          </a:xfrm>
          <a:prstGeom prst="roundRect">
            <a:avLst>
              <a:gd name="adj" fmla="val 3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15869" y="2738437"/>
            <a:ext cx="486653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15869" y="3519487"/>
            <a:ext cx="486653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15869" y="4300537"/>
            <a:ext cx="486653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29994" y="2590800"/>
            <a:ext cx="819150" cy="171450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595562"/>
            <a:ext cx="152400" cy="1524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9625" y="2890837"/>
          <a:ext cx="5439517" cy="2219325"/>
        </p:xfrm>
        <a:graphic>
          <a:graphicData uri="http://schemas.openxmlformats.org/drawingml/2006/table">
            <a:tbl>
              <a:tblPr/>
              <a:tblGrid>
                <a:gridCol w="1240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41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Inter"/>
                        </a:rPr>
                        <a:t>Column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Inter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Inter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1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INTEGER PRIMARY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Unique threat record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41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URL / Email / WiFi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1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url / 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Target domain or vector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41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INTEGER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Calculated score (0–100)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41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threat_level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Low / Medium / High / 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41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TEXT / 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Heuristic warning breakdown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42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timestamp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DATETIME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Creation timestamp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457200"/>
            <a:ext cx="6715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08. Data Model &amp;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3225" y="681037"/>
            <a:ext cx="981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Inter"/>
              </a:rPr>
              <a:t>SQLite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8688585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System Implementation &amp; Database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2576512"/>
            <a:ext cx="1825228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Table: threats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6194" y="2609850"/>
            <a:ext cx="762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JetBrains Mono"/>
              </a:rPr>
              <a:t>threats.db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7794" y="2900362"/>
            <a:ext cx="531420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BACKEND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7794" y="3062287"/>
            <a:ext cx="531420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Python 3.x + Flask REST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7794" y="3681412"/>
            <a:ext cx="531420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COMMUNICATION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7794" y="3843337"/>
            <a:ext cx="531420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Asynchronous HTTP / JSON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7794" y="4462462"/>
            <a:ext cx="531420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FRONTEND RENDERING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7794" y="4624387"/>
            <a:ext cx="531420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HTML5, CSS3, JavaScript ES6, Chart.js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104900"/>
            <a:ext cx="11125200" cy="223837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3495675"/>
            <a:ext cx="11125200" cy="550515"/>
          </a:xfrm>
          <a:prstGeom prst="roundRect">
            <a:avLst>
              <a:gd name="adj" fmla="val 13841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410825" y="528637"/>
            <a:ext cx="1247775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3638550"/>
            <a:ext cx="114300" cy="1143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5325" y="1266825"/>
          <a:ext cx="10801348" cy="1914525"/>
        </p:xfrm>
        <a:graphic>
          <a:graphicData uri="http://schemas.openxmlformats.org/drawingml/2006/table">
            <a:tbl>
              <a:tblPr/>
              <a:tblGrid>
                <a:gridCol w="1369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503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Inter"/>
                        </a:rPr>
                        <a:t>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Inter"/>
                        </a:rPr>
                        <a:t>Test Scenario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Inter"/>
                        </a:rPr>
                        <a:t>Execution Vector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Inter"/>
                        </a:rPr>
                        <a:t>Expected &amp; Observed Result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F172A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503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Inter"/>
                        </a:rPr>
                        <a:t>Website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Valid HTTPS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Standard Domain Query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Calculates clean score (SAFE verdict)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503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Inter"/>
                        </a:rPr>
                        <a:t>Website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Suspicious Phishing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IP / Keyword Spoof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High risk flags &amp; threat warnings generated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503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Inter"/>
                        </a:rPr>
                        <a:t>Email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Body with embedded links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Raw text payload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Regex extracts links &amp; passes to heuristic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503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Inter"/>
                        </a:rPr>
                        <a:t>WiFi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Connected AP Query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netsh / nmcli CLI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Extracts active SSID encryption &amp; scores safety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503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Inter"/>
                        </a:rPr>
                        <a:t>Extension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Active browser tab check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Service worker alert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Renders threat status badge in browser popup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507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Inter"/>
                        </a:rPr>
                        <a:t>Security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SSRF to 127.0.0.1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Loopback URL submission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Middleware blocks request with 403 Forbidden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381000"/>
            <a:ext cx="5553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09. Verification &amp;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4175" y="585787"/>
            <a:ext cx="1076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Black Box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619500"/>
            <a:ext cx="11477625" cy="1428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Inter"/>
              </a:rPr>
              <a:t>Testing Verification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3762375"/>
            <a:ext cx="11477625" cy="159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0C4A6E"/>
                </a:solidFill>
                <a:latin typeface="Inter"/>
              </a:rPr>
              <a:t>All core modules, database logging, and API security controls verified across functional test cases. External threat API results depend on valid API keys and external service availability.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90550"/>
            <a:ext cx="716339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Inter"/>
              </a:rPr>
              <a:t>Testing &amp; Functional Evaluation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591175"/>
            <a:ext cx="10972800" cy="809625"/>
          </a:xfrm>
          <a:prstGeom prst="roundRect">
            <a:avLst>
              <a:gd name="adj" fmla="val 11764"/>
            </a:avLst>
          </a:prstGeom>
          <a:solidFill>
            <a:srgbClr val="09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14562"/>
            <a:ext cx="5334000" cy="1933575"/>
          </a:xfrm>
          <a:prstGeom prst="roundRect">
            <a:avLst>
              <a:gd name="adj" fmla="val 5911"/>
            </a:avLst>
          </a:prstGeom>
          <a:solidFill>
            <a:srgbClr val="0E1527"/>
          </a:solidFill>
          <a:ln w="9525">
            <a:solidFill>
              <a:srgbClr val="1332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214562"/>
            <a:ext cx="5334000" cy="1933575"/>
          </a:xfrm>
          <a:prstGeom prst="roundRect">
            <a:avLst>
              <a:gd name="adj" fmla="val 5911"/>
            </a:avLst>
          </a:prstGeom>
          <a:solidFill>
            <a:srgbClr val="0E1527"/>
          </a:solidFill>
          <a:ln w="9525">
            <a:solidFill>
              <a:srgbClr val="1332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72600" y="5815012"/>
            <a:ext cx="2019300" cy="361950"/>
          </a:xfrm>
          <a:prstGeom prst="roundRect">
            <a:avLst>
              <a:gd name="adj" fmla="val 15789"/>
            </a:avLst>
          </a:prstGeom>
          <a:solidFill>
            <a:srgbClr val="2E698D"/>
          </a:solidFill>
          <a:ln w="9525">
            <a:solidFill>
              <a:srgbClr val="3A7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66975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466975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314700"/>
            <a:ext cx="104775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543300"/>
            <a:ext cx="104775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771900"/>
            <a:ext cx="10477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800350"/>
            <a:ext cx="10477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200400"/>
            <a:ext cx="10477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448050"/>
            <a:ext cx="104775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2345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10. SUMMARY &amp;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457200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Department of Computer Systems Engineering, MUST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0687" y="5891212"/>
            <a:ext cx="21431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Questions &amp;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2452687"/>
            <a:ext cx="6115764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Project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786062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SafeSurf AI successfully delivers a centralized cybersecurity threat analysis platform covering Web, Email, and Wireless access vectors.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225" y="2452687"/>
            <a:ext cx="54387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Future Enhancements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83" y="5781675"/>
            <a:ext cx="606325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646" y="6057900"/>
            <a:ext cx="5774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E0F2FE"/>
                </a:solidFill>
                <a:latin typeface="Inter"/>
              </a:rPr>
              <a:t>SafeSurf AI Project Defense — Department of Computer Systems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3300412"/>
            <a:ext cx="58912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Rule-based &amp; heuristic domain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" y="3529012"/>
            <a:ext cx="58912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Threat intelligence API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3757612"/>
            <a:ext cx="58912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Active browser protection via Chrome Extension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2786062"/>
            <a:ext cx="47720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Machine Learning Classifiers: Train Random Forest / XGBoost models on labeled phishing datasets.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0" y="3186112"/>
            <a:ext cx="5524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Expanded Threat Feeds: Integrate AlienVault OTX &amp; AbuseIPDB APIs.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3433762"/>
            <a:ext cx="47720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Cloud Microservices Deployment: Containerize application using Docker for multi-tenant scalability.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1193</Words>
  <Application>Microsoft Office PowerPoint</Application>
  <PresentationFormat>Widescreen</PresentationFormat>
  <Paragraphs>265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JetBrains Mono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sunrise</cp:lastModifiedBy>
  <cp:revision>3</cp:revision>
  <dcterms:created xsi:type="dcterms:W3CDTF">2013-01-27T09:14:16Z</dcterms:created>
  <dcterms:modified xsi:type="dcterms:W3CDTF">2026-09-18T13:58:26Z</dcterms:modified>
  <cp:category/>
</cp:coreProperties>
</file>